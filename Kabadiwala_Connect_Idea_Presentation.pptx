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JetBrains Mono" panose="02000009000000000000" pitchFamily="49" charset="0"/>
      <p:regular r:id="rId9"/>
      <p:bold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95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Kabadiwala Connect connects India’s informal e-waste collectors (kabadiwalas) with authorized recyclers. Problem: opaque prices, unsafe backyard processing, no traceability. Solution: a low-literacy, multilingual, offline-tolerant app for fair pricing, matching, verified handover and digital payment. On the right is the actual Hindi login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flow: snap → value → match → pickup → verify → paid. The valuation is a transparent rule (reference price per kg × approximate weight × condition factor), not an AI black box — this is key to trust with low-literacy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active roles in the app — Collector (kabadiwala), Recycler, Admin/Regulator — plus the fourth stakeholder everyone serves: the environment and society. Shared outcome is safe, traceable, compliant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running app. Left: the collector’s Hindi mobile home (earnings ₹10,818, 6 lots) and the public handover-verification page. Right: the recycler’s desktop dashboard with live requests, payouts and material processed.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produces a clean, linked dataset (materials, prices, recyclers, transactions, traceability, collectors, and AI training samples). Real seeded figures: ₹15.4K settled GMV, 146 kg settled, 2,337 price points, 10 verified handovers. Every handover carries a public HRN reference checkable at /verify/:reference.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everything shown today is live (rule-based pricing, multilingual/offline, verified handovers, dashboards). Next (0–6 mo): move pricing from rules to ML using the training samples already being logged; UPI settlement; pickup routing. Later: CPCB/EPR credits, carbon accounting, multi-city scale, collector micro-credit.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4754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CEA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KABADIWALA CONNECT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CIRCULAR E-WASTE MARKETPLACE  ·  INDIA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810512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Kabadiwala</a:t>
            </a:r>
            <a:endParaRPr lang="en-US" sz="46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118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C9D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vernacular, offline-tolerant marketplace that links India’s informal e-waste collectors to authorized recyclers — with fair, transparent prices and a fully traceable handover trail.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13291E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4892040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457200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  </a:t>
            </a:r>
            <a:r>
              <a:rPr lang="en-US" sz="120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collectors handle most of India’s e-waste but stay outside the formal chain — opaque prices, unsafe processing, no record.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431536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13291E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5751576"/>
            <a:ext cx="118872" cy="118872"/>
          </a:xfrm>
          <a:prstGeom prst="ellipse">
            <a:avLst/>
          </a:prstGeom>
          <a:solidFill>
            <a:srgbClr val="18A0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4128" y="5431536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5FD6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   </a:t>
            </a:r>
            <a:r>
              <a:rPr lang="en-US" sz="120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app: photograph scrap → get an instant fair value → match an authorized recycler → verified handover → digital payment.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B8A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Hindi  ·  Marathi  ·  English        Offline-first        E-Waste (Management) Rules, 2022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16568" y="740664"/>
            <a:ext cx="2496312" cy="5210673"/>
          </a:xfrm>
          <a:prstGeom prst="roundRect">
            <a:avLst>
              <a:gd name="adj" fmla="val 4762"/>
            </a:avLst>
          </a:prstGeom>
          <a:solidFill>
            <a:srgbClr val="10221A"/>
          </a:solidFill>
          <a:ln/>
          <a:effectLst>
            <a:outerShdw blurRad="127000" dist="50800" dir="5400000" algn="bl" rotWithShape="0">
              <a:srgbClr val="06120C">
                <a:alpha val="30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822960"/>
            <a:ext cx="2331720" cy="50460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Scrap to settlement, in six steps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472946" y="2487168"/>
            <a:ext cx="9243060" cy="0"/>
          </a:xfrm>
          <a:prstGeom prst="line">
            <a:avLst/>
          </a:prstGeom>
          <a:noFill/>
          <a:ln w="38100">
            <a:solidFill>
              <a:srgbClr val="D6E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2050" y="2176272"/>
            <a:ext cx="621792" cy="621792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62050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07792"/>
            <a:ext cx="1848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236976"/>
            <a:ext cx="1738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the lot; add weight &amp; condition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0662" y="2176272"/>
            <a:ext cx="621792" cy="621792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10662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97252" y="2907792"/>
            <a:ext cx="1848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7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52116" y="3236976"/>
            <a:ext cx="1738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explainable ₹ estimate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59274" y="2176272"/>
            <a:ext cx="621792" cy="621792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59274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245864" y="2907792"/>
            <a:ext cx="1848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MATCH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00728" y="3236976"/>
            <a:ext cx="1738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authorized recyclers respond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07886" y="2176272"/>
            <a:ext cx="621792" cy="621792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07886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94476" y="2907792"/>
            <a:ext cx="1848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PICKUP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49340" y="3236976"/>
            <a:ext cx="1738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Weighbridge check + photos at handover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56498" y="2176272"/>
            <a:ext cx="621792" cy="621792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56498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943088" y="2907792"/>
            <a:ext cx="1848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97952" y="3236976"/>
            <a:ext cx="1738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HRN &amp; chain of custody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405110" y="2176272"/>
            <a:ext cx="621792" cy="621792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405110" y="2176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91700" y="2907792"/>
            <a:ext cx="1848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6564" y="3236976"/>
            <a:ext cx="1738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payout to the collector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5065776"/>
            <a:ext cx="137160" cy="1371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15568" y="4956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PRICE IS A FORMULA, NOT A BLACK BOX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5303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estimated_value  =  reference_price/kg  ×  weight  ×  condition_factor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7058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condition_factor —  working 1.15  ·  mixed 1.00  ·  non-working 0.90  ·  damaged 0.75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9618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price the collector can see and trust — every lot priced the same, transparent way.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 stakeholders, one traceable loop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3384" cy="3337560"/>
          </a:xfrm>
          <a:prstGeom prst="roundRect">
            <a:avLst>
              <a:gd name="adj" fmla="val 3836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658368" cy="658368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093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93976"/>
            <a:ext cx="2173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59736"/>
            <a:ext cx="2173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Kabadiwala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017520"/>
            <a:ext cx="2849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scrap fast, in their language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a fair, upfront price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payment + earnings history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even on a weak connection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453384" cy="3337560"/>
          </a:xfrm>
          <a:prstGeom prst="roundRect">
            <a:avLst>
              <a:gd name="adj" fmla="val 3836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0392" y="2093976"/>
            <a:ext cx="658368" cy="658368"/>
          </a:xfrm>
          <a:prstGeom prst="ellipse">
            <a:avLst/>
          </a:prstGeom>
          <a:solidFill>
            <a:srgbClr val="0E7A46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0392" y="2093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65064" y="2093976"/>
            <a:ext cx="2173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Recycler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65064" y="2459736"/>
            <a:ext cx="2173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facility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78680" y="3017520"/>
            <a:ext cx="2849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Steady, sorted supply of materials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requests within service radius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Weighbridge &amp; handover records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Compliance-ready documentation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6928" y="1783080"/>
            <a:ext cx="3453384" cy="3337560"/>
          </a:xfrm>
          <a:prstGeom prst="roundRect">
            <a:avLst>
              <a:gd name="adj" fmla="val 3836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9536" y="2093976"/>
            <a:ext cx="658368" cy="658368"/>
          </a:xfrm>
          <a:prstGeom prst="ellipse">
            <a:avLst/>
          </a:prstGeom>
          <a:solidFill>
            <a:srgbClr val="1C6E8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79536" y="2093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284208" y="2093976"/>
            <a:ext cx="2173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 / Regulator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284208" y="2459736"/>
            <a:ext cx="2173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CPCB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97824" y="3017520"/>
            <a:ext cx="2849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oversight &amp; analytics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Authorizes recyclers (CPCB)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Auditable, traceable handovers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Fair-market &amp; unit-economics view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1672" cy="896112"/>
          </a:xfrm>
          <a:prstGeom prst="roundRect">
            <a:avLst>
              <a:gd name="adj" fmla="val 14286"/>
            </a:avLst>
          </a:prstGeom>
          <a:solidFill>
            <a:srgbClr val="18A05C"/>
          </a:solidFill>
          <a:ln/>
          <a:effectLst>
            <a:outerShdw blurRad="114300" dist="38100" dir="5400000" algn="bl" rotWithShape="0">
              <a:srgbClr val="06120C">
                <a:alpha val="3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614416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5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394960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62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ENVIRONMENT &amp; SOCIETY   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processing, higher material recovery, and a formal digital record for EPR / CPCB compliance.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55229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146 kg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5907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responsibly settled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the hands of every user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57784" y="1609344"/>
            <a:ext cx="1993392" cy="4122303"/>
          </a:xfrm>
          <a:prstGeom prst="roundRect">
            <a:avLst>
              <a:gd name="adj" fmla="val 5963"/>
            </a:avLst>
          </a:prstGeom>
          <a:solidFill>
            <a:srgbClr val="10221A"/>
          </a:solidFill>
          <a:ln/>
          <a:effectLst>
            <a:outerShdw blurRad="127000" dist="50800" dir="5400000" algn="bl" rotWithShape="0">
              <a:srgbClr val="06120C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828800" cy="39577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52344" y="1609344"/>
            <a:ext cx="1993392" cy="4122303"/>
          </a:xfrm>
          <a:prstGeom prst="roundRect">
            <a:avLst>
              <a:gd name="adj" fmla="val 5963"/>
            </a:avLst>
          </a:prstGeom>
          <a:solidFill>
            <a:srgbClr val="10221A"/>
          </a:solidFill>
          <a:ln/>
          <a:effectLst>
            <a:outerShdw blurRad="127000" dist="50800" dir="5400000" algn="bl" rotWithShape="0">
              <a:srgbClr val="06120C">
                <a:alpha val="3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691640"/>
            <a:ext cx="1828800" cy="395771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75504" y="1609344"/>
            <a:ext cx="6108192" cy="4126992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2700">
            <a:solidFill>
              <a:srgbClr val="CBD8D0"/>
            </a:solidFill>
            <a:prstDash val="solid"/>
          </a:ln>
          <a:effectLst>
            <a:outerShdw blurRad="127000" dist="50800" dir="5400000" algn="bl" rotWithShape="0">
              <a:srgbClr val="06120C">
                <a:alpha val="30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691640"/>
            <a:ext cx="5943600" cy="3962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579565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COLLECTOR HOME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6069975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Earnings, lots &amp; deals at a glance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2834640" y="579565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VERIFY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834640" y="6069975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check a handover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257800" y="5795655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RECYCLER DASHBOARD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257800" y="6069975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requests, payouts &amp; material processed — with service-radius matching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&amp; TRACEABILITY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Priced, matched, and fully accounted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07024" y="1517904"/>
            <a:ext cx="5788152" cy="3913632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12700">
            <a:solidFill>
              <a:srgbClr val="CBD8D0"/>
            </a:solidFill>
            <a:prstDash val="solid"/>
          </a:ln>
          <a:effectLst>
            <a:outerShdw blurRad="127000" dist="50800" dir="5400000" algn="bl" rotWithShape="0">
              <a:srgbClr val="06120C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00200"/>
            <a:ext cx="562356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55321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 ANALYTICS — LIVE PLATFORM DATA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77393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7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₹15.4K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28600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 value (GMV)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1645920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01568" y="177393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146 kg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3401568" y="228600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settled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85292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2980944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2,337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49300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data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8688" y="285292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E8F3E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401568" y="2980944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349300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handovers verified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A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SEVEN LINKED DATASETS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434840"/>
            <a:ext cx="1092708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4434840"/>
            <a:ext cx="1092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05940" y="4434840"/>
            <a:ext cx="832104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805940" y="4434840"/>
            <a:ext cx="83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02636" y="4434840"/>
            <a:ext cx="1092708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802636" y="4434840"/>
            <a:ext cx="1092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Recyclers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059936" y="443484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059936" y="4434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89204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48920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66544" y="4892040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066544" y="489204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Collectors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10712" y="4892040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410712" y="489204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samples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5532120"/>
            <a:ext cx="5349240" cy="1005840"/>
          </a:xfrm>
          <a:prstGeom prst="roundRect">
            <a:avLst>
              <a:gd name="adj" fmla="val 11818"/>
            </a:avLst>
          </a:prstGeom>
          <a:solidFill>
            <a:srgbClr val="18A05C"/>
          </a:solidFill>
          <a:ln/>
          <a:effectLst>
            <a:outerShdw blurRad="114300" dist="38100" dir="5400000" algn="bl" rotWithShape="0">
              <a:srgbClr val="06120C">
                <a:alpha val="2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777240" y="5678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HRN-20260908-F2A2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" y="6044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0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Verifiable at  /verify/:reference  —  full chain of custody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7240" y="62636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recycler GreenTech  ·  CPCB/REC/2024/001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a working platform to circular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3384" cy="3429000"/>
          </a:xfrm>
          <a:prstGeom prst="roundRect">
            <a:avLst>
              <a:gd name="adj" fmla="val 3733"/>
            </a:avLst>
          </a:prstGeom>
          <a:solidFill>
            <a:srgbClr val="13291E"/>
          </a:solidFill>
          <a:ln/>
          <a:effectLst>
            <a:outerShdw blurRad="114300" dist="38100" dir="5400000" algn="bl" rotWithShape="0">
              <a:srgbClr val="05100A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67128"/>
            <a:ext cx="182880" cy="182880"/>
          </a:xfrm>
          <a:prstGeom prst="ellipse">
            <a:avLst/>
          </a:prstGeom>
          <a:solidFill>
            <a:srgbClr val="18A0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52144" y="2057400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A0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496312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53512"/>
            <a:ext cx="2886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fair pricing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/ Marathi / English, offline-first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handovers (HRN + QR)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Collector, recycler &amp; admin dashboards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783080"/>
            <a:ext cx="3453384" cy="3429000"/>
          </a:xfrm>
          <a:prstGeom prst="roundRect">
            <a:avLst>
              <a:gd name="adj" fmla="val 3733"/>
            </a:avLst>
          </a:prstGeom>
          <a:solidFill>
            <a:srgbClr val="13291E"/>
          </a:solidFill>
          <a:ln/>
          <a:effectLst>
            <a:outerShdw blurRad="114300" dist="38100" dir="5400000" algn="bl" rotWithShape="0">
              <a:srgbClr val="05100A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680" y="216712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71288" y="2057400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78680" y="2496312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months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78680" y="2953512"/>
            <a:ext cx="2886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price &amp; photo-based grading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i="1" dirty="0">
                <a:solidFill>
                  <a:srgbClr val="9C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 training samples already logging)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wallet &amp; instant settlement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&amp; pickup aggregation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6928" y="1783080"/>
            <a:ext cx="3453384" cy="3429000"/>
          </a:xfrm>
          <a:prstGeom prst="roundRect">
            <a:avLst>
              <a:gd name="adj" fmla="val 3733"/>
            </a:avLst>
          </a:prstGeom>
          <a:solidFill>
            <a:srgbClr val="13291E"/>
          </a:solidFill>
          <a:ln/>
          <a:effectLst>
            <a:outerShdw blurRad="114300" dist="38100" dir="5400000" algn="bl" rotWithShape="0">
              <a:srgbClr val="05100A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97824" y="2167128"/>
            <a:ext cx="182880" cy="18288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90432" y="2057400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97824" y="2496312"/>
            <a:ext cx="284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97824" y="2953512"/>
            <a:ext cx="2886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CPCB / EPR-credit integration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&amp; recovery impact accounting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Multi-city, more languages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Micro-credit for collectors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650992"/>
            <a:ext cx="146304" cy="146304"/>
          </a:xfrm>
          <a:prstGeom prst="ellipse">
            <a:avLst/>
          </a:prstGeom>
          <a:solidFill>
            <a:srgbClr val="18A0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5486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Kabadiwala Connect — turning India’s informal recyclers into a fair, traceable, circular economy.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155680" y="6080760"/>
            <a:ext cx="457200" cy="457200"/>
          </a:xfrm>
          <a:prstGeom prst="ellipse">
            <a:avLst/>
          </a:prstGeom>
          <a:solidFill>
            <a:srgbClr val="18A05C"/>
          </a:solidFill>
          <a:ln/>
          <a:effectLst>
            <a:outerShdw blurRad="76200" dist="25400" dir="5400000" algn="bl" rotWithShape="0">
              <a:srgbClr val="06120C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1155680" y="6080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Office PowerPoint</Application>
  <PresentationFormat>Widescreen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Kabadiwala Connect — Idea Presentation</dc:title>
  <dc:subject>PptxGenJS Presentation</dc:subject>
  <dc:creator>Kabadiwala Connect</dc:creator>
  <cp:lastModifiedBy>Prabhnoor Basra</cp:lastModifiedBy>
  <cp:revision>2</cp:revision>
  <dcterms:created xsi:type="dcterms:W3CDTF">2026-09-09T04:53:35Z</dcterms:created>
  <dcterms:modified xsi:type="dcterms:W3CDTF">2026-09-09T04:53:50Z</dcterms:modified>
</cp:coreProperties>
</file>